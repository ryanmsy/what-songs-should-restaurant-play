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sldIdLst>
    <p:sldId id="256" r:id="rId5"/>
    <p:sldId id="257" r:id="rId6"/>
    <p:sldId id="269" r:id="rId7"/>
    <p:sldId id="267" r:id="rId8"/>
    <p:sldId id="260" r:id="rId9"/>
    <p:sldId id="261" r:id="rId10"/>
    <p:sldId id="262" r:id="rId11"/>
    <p:sldId id="263" r:id="rId12"/>
    <p:sldId id="264" r:id="rId13"/>
    <p:sldId id="265" r:id="rId14"/>
    <p:sldId id="268" r:id="rId15"/>
    <p:sldId id="266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2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89" autoAdjust="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438" y="120"/>
      </p:cViewPr>
      <p:guideLst>
        <p:guide orient="horz" pos="1620"/>
        <p:guide pos="320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9168" y="1597819"/>
            <a:ext cx="8234832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6184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B3CC-F982-40F9-8DD6-BCC9AFBF44BD}" type="datetime1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818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818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B99-7C3F-4BC3-B7B8-7E1F8C620B24}" type="datetime1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1206" y="1200151"/>
            <a:ext cx="3810316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3922" y="1200151"/>
            <a:ext cx="3801296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0069" y="1151335"/>
            <a:ext cx="3809287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0069" y="1631156"/>
            <a:ext cx="38092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084763" y="1148899"/>
            <a:ext cx="3809287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5084763" y="1628720"/>
            <a:ext cx="38092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341" y="204787"/>
            <a:ext cx="3008313" cy="66839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3414" y="204788"/>
            <a:ext cx="471180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1341" y="1010298"/>
            <a:ext cx="3008313" cy="35843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1206" y="3600450"/>
            <a:ext cx="7764012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1206" y="187627"/>
            <a:ext cx="7764012" cy="335805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1206" y="4025503"/>
            <a:ext cx="7764012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2806" y="1028699"/>
            <a:ext cx="2222412" cy="62385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27432" y="1028699"/>
            <a:ext cx="5486400" cy="40124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52806" y="1723466"/>
            <a:ext cx="2222412" cy="285174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3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17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9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764856" y="-1"/>
            <a:ext cx="8379144" cy="92370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rgbClr val="FFFFFF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09169" cy="5143500"/>
          </a:xfrm>
          <a:prstGeom prst="rect">
            <a:avLst/>
          </a:prstGeom>
          <a:gradFill flip="none" rotWithShape="1">
            <a:gsLst>
              <a:gs pos="26000">
                <a:schemeClr val="tx2"/>
              </a:gs>
              <a:gs pos="100000">
                <a:srgbClr val="FFFFFF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0070" y="141035"/>
            <a:ext cx="7735148" cy="659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0070" y="923701"/>
            <a:ext cx="7735148" cy="3670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132" y="4767263"/>
            <a:ext cx="8160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68C2560D-EC28-3B41-86E8-18F1CE0113B4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41618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UA_Logo_reversed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2" y="181507"/>
            <a:ext cx="736665" cy="56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  <p:sldLayoutId id="2147493467" r:id="rId10"/>
    <p:sldLayoutId id="2147493465" r:id="rId11"/>
    <p:sldLayoutId id="2147493466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1800000" y="1469273"/>
            <a:ext cx="4711636" cy="1400000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 algn="l"/>
            <a:r>
              <a:rPr lang="en-US" sz="2500" b="1" dirty="0">
                <a:solidFill>
                  <a:srgbClr val="C00000"/>
                </a:solidFill>
                <a:latin typeface="Calibri"/>
              </a:rPr>
              <a:t>Restaurant Music Recommendation Engine</a:t>
            </a:r>
          </a:p>
        </p:txBody>
      </p:sp>
      <p:sp>
        <p:nvSpPr>
          <p:cNvPr id="3" name="Subtitle 3"/>
          <p:cNvSpPr>
            <a:spLocks noGrp="1"/>
          </p:cNvSpPr>
          <p:nvPr>
            <p:ph type="subTitle" idx="1"/>
          </p:nvPr>
        </p:nvSpPr>
        <p:spPr>
          <a:xfrm>
            <a:off x="1800000" y="3100000"/>
            <a:ext cx="6900000" cy="7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600" dirty="0">
                <a:solidFill>
                  <a:srgbClr val="777777"/>
                </a:solidFill>
                <a:latin typeface="Calibri"/>
              </a:rPr>
              <a:t>Progress Update  |  Ryan Moh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600000" y="380000"/>
            <a:ext cx="7344000" cy="7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800" b="1" dirty="0">
                <a:solidFill>
                  <a:srgbClr val="9B2335"/>
                </a:solidFill>
                <a:latin typeface="Calibri"/>
              </a:rPr>
              <a:t>The Big Picture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1600000" y="1150000"/>
            <a:ext cx="7344000" cy="37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lvl="0" indent="-457200">
              <a:buChar char="•"/>
            </a:pPr>
            <a:r>
              <a:rPr lang="en-US" sz="1700" b="1" dirty="0">
                <a:solidFill>
                  <a:srgbClr val="222222"/>
                </a:solidFill>
                <a:latin typeface="Calibri"/>
              </a:rPr>
              <a:t>Two datasets, one goal: match a restaurant’s vibe to the right music</a:t>
            </a:r>
          </a:p>
          <a:p>
            <a:pPr marL="457200" lvl="1" indent="-457200">
              <a:buChar char="•"/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Yelp dataset: 52,268 restaurants with attributes (ambiance, noise level, price, categories)</a:t>
            </a:r>
          </a:p>
          <a:p>
            <a:pPr marL="457200" lvl="1" indent="-457200">
              <a:buChar char="•"/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Spotify dataset: ~1.2 million tracks with 12 audio features (energy, danceability, valence, tempo…)</a:t>
            </a:r>
          </a:p>
          <a:p>
            <a:pPr marL="0" lvl="0" indent="-457200">
              <a:buChar char="•"/>
            </a:pPr>
            <a:r>
              <a:rPr lang="en-US" sz="1700" b="1" dirty="0">
                <a:solidFill>
                  <a:srgbClr val="222222"/>
                </a:solidFill>
                <a:latin typeface="Calibri"/>
              </a:rPr>
              <a:t>Linear algebra is the mathematical backbone connecting these two worlds</a:t>
            </a:r>
          </a:p>
          <a:p>
            <a:pPr marL="457200" lvl="1" indent="-457200">
              <a:buChar char="•"/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Covariance matrices, PCA, </a:t>
            </a:r>
            <a:r>
              <a:rPr lang="en-US" sz="1700" b="0" dirty="0" err="1">
                <a:solidFill>
                  <a:srgbClr val="333333"/>
                </a:solidFill>
                <a:latin typeface="Calibri"/>
              </a:rPr>
              <a:t>eigendecomposition</a:t>
            </a:r>
            <a:r>
              <a:rPr lang="en-US" sz="1700" b="0" dirty="0">
                <a:solidFill>
                  <a:srgbClr val="333333"/>
                </a:solidFill>
                <a:latin typeface="Calibri"/>
              </a:rPr>
              <a:t> - reduce noise, find signal</a:t>
            </a:r>
          </a:p>
          <a:p>
            <a:pPr marL="457200" lvl="1" indent="-457200">
              <a:buChar char="•"/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A transformation matrix W will learn to “translate” restaurant language into music language</a:t>
            </a:r>
          </a:p>
          <a:p>
            <a:pPr marL="0" lvl="0" indent="-457200">
              <a:buChar char="•"/>
            </a:pPr>
            <a:r>
              <a:rPr lang="en-US" sz="1700" b="1" dirty="0">
                <a:solidFill>
                  <a:srgbClr val="222222"/>
                </a:solidFill>
                <a:latin typeface="Calibri"/>
              </a:rPr>
              <a:t>Final output: given any restaurant, generate a curated playlist using cosine similarity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CDCB-DDE7-B27D-27E1-15EE7A12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D9998E2-CC9A-B85F-AB31-455E8CB00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145" y="30000"/>
            <a:ext cx="7344000" cy="7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800" b="1" dirty="0">
                <a:solidFill>
                  <a:srgbClr val="9B2335"/>
                </a:solidFill>
                <a:latin typeface="Calibri"/>
              </a:rPr>
              <a:t>What I Learned: Linear Algebra Concepts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F0F4FC-B27F-D8E5-DD6F-D27DE5F04D11}"/>
              </a:ext>
            </a:extLst>
          </p:cNvPr>
          <p:cNvSpPr txBox="1"/>
          <p:nvPr/>
        </p:nvSpPr>
        <p:spPr>
          <a:xfrm>
            <a:off x="1205345" y="907253"/>
            <a:ext cx="6781799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1" dirty="0"/>
              <a:t>Column Space C(A)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Columns = Available Features (Loud, Energy, Ambiance)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Defines the limits of what a model can learn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300" dirty="0"/>
          </a:p>
          <a:p>
            <a:pPr>
              <a:buNone/>
            </a:pPr>
            <a:r>
              <a:rPr lang="en-US" sz="1300" b="1" dirty="0"/>
              <a:t>Null Space Ax=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Overlap = Redundant Data (Unit of Measure: BPM vs dB)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Identifies duplicates to delete and simplify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300" dirty="0"/>
          </a:p>
          <a:p>
            <a:pPr>
              <a:buNone/>
            </a:pPr>
            <a:r>
              <a:rPr lang="en-US" sz="1300" b="1" dirty="0"/>
              <a:t>Row Space C(A^T)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Rows = Actual Observations (Number of restaurants / Songs)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Reveal the true group / observations of the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300" dirty="0"/>
          </a:p>
          <a:p>
            <a:pPr>
              <a:buNone/>
            </a:pPr>
            <a:r>
              <a:rPr lang="en-US" sz="1300" b="1" dirty="0"/>
              <a:t>Left Null Space N(A^T)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Leftovers = Noise &amp; Constraints ( unpredictable delays, warehouse caps)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Captures physical limits and errors the model cannot explain</a:t>
            </a:r>
          </a:p>
        </p:txBody>
      </p:sp>
    </p:spTree>
    <p:extLst>
      <p:ext uri="{BB962C8B-B14F-4D97-AF65-F5344CB8AC3E}">
        <p14:creationId xmlns:p14="http://schemas.microsoft.com/office/powerpoint/2010/main" val="101591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2CDB-4326-B4E4-0574-7713A658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4288734-9766-5004-9ACA-530946B4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145" y="30000"/>
            <a:ext cx="7344000" cy="7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800" b="1" dirty="0">
                <a:solidFill>
                  <a:srgbClr val="9B2335"/>
                </a:solidFill>
                <a:latin typeface="Calibri"/>
              </a:rPr>
              <a:t>What I Learned: Linear Algebra Concepts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82F6E8B-EC5E-4D8C-4900-717044D836CC}"/>
              </a:ext>
            </a:extLst>
          </p:cNvPr>
          <p:cNvSpPr txBox="1">
            <a:spLocks noGrp="1"/>
          </p:cNvSpPr>
          <p:nvPr/>
        </p:nvSpPr>
        <p:spPr>
          <a:xfrm>
            <a:off x="1156855" y="1222950"/>
            <a:ext cx="7629291" cy="38062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450" b="0" dirty="0" err="1">
                <a:solidFill>
                  <a:srgbClr val="333333"/>
                </a:solidFill>
                <a:latin typeface="Calibri"/>
              </a:rPr>
              <a:t>RREf</a:t>
            </a:r>
            <a:r>
              <a:rPr lang="en-US" sz="1450" b="0" dirty="0">
                <a:solidFill>
                  <a:srgbClr val="333333"/>
                </a:solidFill>
                <a:latin typeface="Calibri"/>
              </a:rPr>
              <a:t> identifies which columns are redundant </a:t>
            </a:r>
          </a:p>
          <a:p>
            <a:pPr algn="l"/>
            <a:endParaRPr lang="en-US" sz="1450" b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lang="en-US" sz="1450" dirty="0">
                <a:solidFill>
                  <a:srgbClr val="333333"/>
                </a:solidFill>
                <a:latin typeface="Calibri"/>
              </a:rPr>
              <a:t>PCA:</a:t>
            </a:r>
          </a:p>
          <a:p>
            <a:pPr algn="l"/>
            <a:r>
              <a:rPr lang="en-US" sz="1450" b="0" dirty="0" err="1">
                <a:solidFill>
                  <a:srgbClr val="333333"/>
                </a:solidFill>
                <a:latin typeface="Calibri"/>
              </a:rPr>
              <a:t>Eigionvalue</a:t>
            </a:r>
            <a:r>
              <a:rPr lang="en-US" sz="1450" b="0" dirty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/>
            <a:r>
              <a:rPr lang="en-US" sz="1450" dirty="0" err="1">
                <a:solidFill>
                  <a:srgbClr val="333333"/>
                </a:solidFill>
                <a:latin typeface="Calibri"/>
              </a:rPr>
              <a:t>Egionvectors</a:t>
            </a:r>
            <a:endParaRPr lang="en-US" sz="1450" b="0" dirty="0">
              <a:solidFill>
                <a:srgbClr val="333333"/>
              </a:solidFill>
              <a:latin typeface="Calibri"/>
            </a:endParaRPr>
          </a:p>
          <a:p>
            <a:pPr algn="l"/>
            <a:endParaRPr lang="en-US" sz="1450" b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lang="en-US" sz="1450" b="0" dirty="0" err="1">
                <a:solidFill>
                  <a:srgbClr val="333333"/>
                </a:solidFill>
                <a:latin typeface="Calibri"/>
              </a:rPr>
              <a:t>StandardScaler</a:t>
            </a:r>
            <a:endParaRPr lang="en-US" sz="1450" b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lang="en-US" sz="1450" b="0" dirty="0">
                <a:solidFill>
                  <a:srgbClr val="333333"/>
                </a:solidFill>
                <a:latin typeface="Calibri"/>
              </a:rPr>
              <a:t> used before PCA so variance-</a:t>
            </a:r>
          </a:p>
          <a:p>
            <a:pPr algn="l"/>
            <a:r>
              <a:rPr lang="en-US" sz="1450" b="0" dirty="0">
                <a:solidFill>
                  <a:srgbClr val="333333"/>
                </a:solidFill>
                <a:latin typeface="Calibri"/>
              </a:rPr>
              <a:t>based math is not distorted by unit differences.</a:t>
            </a:r>
          </a:p>
          <a:p>
            <a:pPr algn="l"/>
            <a:endParaRPr lang="en-US" sz="145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lang="en-US" sz="1450" b="0" dirty="0">
                <a:solidFill>
                  <a:srgbClr val="333333"/>
                </a:solidFill>
                <a:latin typeface="Calibri"/>
              </a:rPr>
              <a:t>Wh</a:t>
            </a:r>
            <a:r>
              <a:rPr lang="en-US" sz="1450" dirty="0">
                <a:solidFill>
                  <a:srgbClr val="333333"/>
                </a:solidFill>
                <a:latin typeface="Calibri"/>
              </a:rPr>
              <a:t>y Transpose</a:t>
            </a:r>
          </a:p>
          <a:p>
            <a:pPr algn="l"/>
            <a:endParaRPr lang="en-US" sz="1450" b="0" dirty="0">
              <a:solidFill>
                <a:srgbClr val="3333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7998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600000" y="380000"/>
            <a:ext cx="7344000" cy="700000"/>
          </a:xfrm>
          <a:prstGeom prst="rect">
            <a:avLst/>
          </a:prstGeom>
          <a:noFill/>
        </p:spPr>
        <p:txBody>
          <a:bodyPr anchor="ctr">
            <a:normAutofit fontScale="90000"/>
          </a:bodyPr>
          <a:lstStyle/>
          <a:p>
            <a:r>
              <a:rPr lang="en-US" sz="2800" b="1" dirty="0">
                <a:solidFill>
                  <a:srgbClr val="9B2335"/>
                </a:solidFill>
                <a:latin typeface="Calibri"/>
              </a:rPr>
              <a:t>Covariance Matrix: Spotting Redundant Features</a:t>
            </a:r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4" y="1122514"/>
            <a:ext cx="4200000" cy="3400000"/>
          </a:xfrm>
          <a:prstGeom prst="rect">
            <a:avLst/>
          </a:prstGeom>
        </p:spPr>
      </p:pic>
      <p:sp>
        <p:nvSpPr>
          <p:cNvPr id="4" name="TextBox 4"/>
          <p:cNvSpPr txBox="1">
            <a:spLocks noGrp="1"/>
          </p:cNvSpPr>
          <p:nvPr/>
        </p:nvSpPr>
        <p:spPr>
          <a:xfrm>
            <a:off x="5334000" y="1106273"/>
            <a:ext cx="3704545" cy="37982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300" b="1" u="sng" dirty="0">
                <a:solidFill>
                  <a:srgbClr val="333333"/>
                </a:solidFill>
                <a:latin typeface="Calibri"/>
              </a:rPr>
              <a:t>Key Findings:</a:t>
            </a:r>
          </a:p>
          <a:p>
            <a:pPr algn="l"/>
            <a:r>
              <a:rPr lang="en-US" sz="1300" b="1" dirty="0">
                <a:solidFill>
                  <a:srgbClr val="333333"/>
                </a:solidFill>
                <a:latin typeface="Calibri"/>
              </a:rPr>
              <a:t>Energy -  Loudness: </a:t>
            </a:r>
            <a:r>
              <a:rPr lang="en-US" sz="1300" b="0" dirty="0">
                <a:solidFill>
                  <a:srgbClr val="333333"/>
                </a:solidFill>
                <a:latin typeface="Calibri"/>
              </a:rPr>
              <a:t>0.82 (strongly correlated)</a:t>
            </a:r>
          </a:p>
          <a:p>
            <a:pPr algn="l"/>
            <a:endParaRPr lang="en-US" sz="1300" b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lang="en-US" sz="1300" b="1" dirty="0">
                <a:solidFill>
                  <a:srgbClr val="333333"/>
                </a:solidFill>
                <a:latin typeface="Calibri"/>
              </a:rPr>
              <a:t>Energy  Acousticness: </a:t>
            </a:r>
            <a:r>
              <a:rPr lang="en-US" sz="1300" b="0" dirty="0">
                <a:solidFill>
                  <a:srgbClr val="333333"/>
                </a:solidFill>
                <a:latin typeface="Calibri"/>
              </a:rPr>
              <a:t>-0.80 (near-perfect inverse relationship)</a:t>
            </a:r>
          </a:p>
          <a:p>
            <a:pPr algn="l"/>
            <a:endParaRPr lang="en-US" sz="1300" b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lang="en-US" sz="1300" b="1" dirty="0">
                <a:solidFill>
                  <a:srgbClr val="333333"/>
                </a:solidFill>
                <a:latin typeface="Calibri"/>
              </a:rPr>
              <a:t>Danceability - Valence: </a:t>
            </a:r>
            <a:r>
              <a:rPr lang="en-US" sz="1300" b="0" dirty="0">
                <a:solidFill>
                  <a:srgbClr val="333333"/>
                </a:solidFill>
                <a:latin typeface="Calibri"/>
              </a:rPr>
              <a:t>0.56 (happier songs)</a:t>
            </a:r>
          </a:p>
          <a:p>
            <a:pPr algn="l"/>
            <a:endParaRPr lang="en-US" sz="1300" dirty="0">
              <a:solidFill>
                <a:srgbClr val="333333"/>
              </a:solidFill>
              <a:latin typeface="Calibri"/>
            </a:endParaRPr>
          </a:p>
          <a:p>
            <a:pPr algn="l"/>
            <a:endParaRPr lang="en-US" sz="1300" b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The null space confirms it: certain feature</a:t>
            </a:r>
          </a:p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combinations collapse to zero, they carry the</a:t>
            </a:r>
          </a:p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same information in different units.</a:t>
            </a:r>
          </a:p>
          <a:p>
            <a:pPr algn="l"/>
            <a:endParaRPr lang="en-US" sz="1300" b="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600000" y="380000"/>
            <a:ext cx="7344000" cy="7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800" b="1" dirty="0">
                <a:solidFill>
                  <a:srgbClr val="9B2335"/>
                </a:solidFill>
                <a:latin typeface="Calibri"/>
              </a:rPr>
              <a:t>Redundant vs. Independent: Visualized in 3D</a:t>
            </a:r>
          </a:p>
        </p:txBody>
      </p:sp>
      <p:sp>
        <p:nvSpPr>
          <p:cNvPr id="4" name="TextBox 4"/>
          <p:cNvSpPr txBox="1">
            <a:spLocks noGrp="1"/>
          </p:cNvSpPr>
          <p:nvPr/>
        </p:nvSpPr>
        <p:spPr>
          <a:xfrm>
            <a:off x="1163582" y="4217763"/>
            <a:ext cx="3500000" cy="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350" b="1" dirty="0">
                <a:solidFill>
                  <a:srgbClr val="9B2335"/>
                </a:solidFill>
                <a:latin typeface="Calibri"/>
              </a:rPr>
              <a:t>Data collapses into a flat plane. </a:t>
            </a:r>
          </a:p>
          <a:p>
            <a:pPr algn="l"/>
            <a:r>
              <a:rPr lang="en-US" sz="1350" b="1" dirty="0">
                <a:solidFill>
                  <a:srgbClr val="9B2335"/>
                </a:solidFill>
                <a:latin typeface="Calibri"/>
              </a:rPr>
              <a:t>3 features span only 2 dimensions.</a:t>
            </a:r>
          </a:p>
        </p:txBody>
      </p:sp>
      <p:sp>
        <p:nvSpPr>
          <p:cNvPr id="5" name="TextBox 5"/>
          <p:cNvSpPr txBox="1">
            <a:spLocks noGrp="1"/>
          </p:cNvSpPr>
          <p:nvPr/>
        </p:nvSpPr>
        <p:spPr>
          <a:xfrm>
            <a:off x="5272000" y="4202963"/>
            <a:ext cx="3400000" cy="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350" b="1" dirty="0">
                <a:solidFill>
                  <a:srgbClr val="1F5C99"/>
                </a:solidFill>
                <a:latin typeface="Calibri"/>
              </a:rPr>
              <a:t>Data fills the 3D volume. </a:t>
            </a:r>
          </a:p>
          <a:p>
            <a:pPr algn="l"/>
            <a:r>
              <a:rPr lang="en-US" sz="1350" b="1" dirty="0">
                <a:solidFill>
                  <a:srgbClr val="1F5C99"/>
                </a:solidFill>
                <a:latin typeface="Calibri"/>
              </a:rPr>
              <a:t>These features are independent.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688141-F041-AF2D-B0EE-9FD061073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46" y="1080000"/>
            <a:ext cx="5902036" cy="2719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600000" y="380000"/>
            <a:ext cx="7344000" cy="7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800" b="1" dirty="0">
                <a:solidFill>
                  <a:srgbClr val="9B2335"/>
                </a:solidFill>
                <a:latin typeface="Calibri"/>
              </a:rPr>
              <a:t>PCA: How Many Components Do We Need?</a:t>
            </a:r>
          </a:p>
        </p:txBody>
      </p:sp>
      <p:sp>
        <p:nvSpPr>
          <p:cNvPr id="5" name="TextBox 5"/>
          <p:cNvSpPr txBox="1">
            <a:spLocks noGrp="1"/>
          </p:cNvSpPr>
          <p:nvPr/>
        </p:nvSpPr>
        <p:spPr>
          <a:xfrm>
            <a:off x="1600000" y="4000000"/>
            <a:ext cx="3550000" cy="4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450" b="1" dirty="0">
                <a:solidFill>
                  <a:srgbClr val="9B2335"/>
                </a:solidFill>
                <a:latin typeface="Calibri"/>
              </a:rPr>
              <a:t>Spotify: 6 components  85%+ variance</a:t>
            </a:r>
          </a:p>
        </p:txBody>
      </p:sp>
      <p:sp>
        <p:nvSpPr>
          <p:cNvPr id="6" name="TextBox 6"/>
          <p:cNvSpPr txBox="1">
            <a:spLocks noGrp="1"/>
          </p:cNvSpPr>
          <p:nvPr/>
        </p:nvSpPr>
        <p:spPr>
          <a:xfrm>
            <a:off x="5400000" y="4000000"/>
            <a:ext cx="3550000" cy="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9B2335"/>
                </a:solidFill>
                <a:latin typeface="Calibri"/>
              </a:rPr>
              <a:t>Yelp: More spread out = More independent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746C33-F52E-E619-17D8-7B2CC7A97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882" y="1576248"/>
            <a:ext cx="2410161" cy="19910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B9C617-6A74-7DCF-7A32-C8A083D95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942" y="1296320"/>
            <a:ext cx="2142115" cy="25508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600000" y="380000"/>
            <a:ext cx="7344000" cy="700000"/>
          </a:xfrm>
          <a:prstGeom prst="rect">
            <a:avLst/>
          </a:prstGeom>
          <a:noFill/>
        </p:spPr>
        <p:txBody>
          <a:bodyPr anchor="ctr">
            <a:normAutofit fontScale="90000"/>
          </a:bodyPr>
          <a:lstStyle/>
          <a:p>
            <a:r>
              <a:rPr lang="en-US" sz="2800" b="1" dirty="0">
                <a:solidFill>
                  <a:srgbClr val="9B2335"/>
                </a:solidFill>
                <a:latin typeface="Calibri"/>
              </a:rPr>
              <a:t>The Problem: Two Datasets, Different Dimensions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1600000" y="1150000"/>
            <a:ext cx="7344000" cy="37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/>
              </a:rPr>
              <a:t>Yelp: price, ambiance, noise level, categories</a:t>
            </a:r>
          </a:p>
          <a:p>
            <a:pPr marL="0" lv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/>
              </a:rPr>
              <a:t>Spotify: danceability, acousticness, energy, tempo</a:t>
            </a:r>
          </a:p>
          <a:p>
            <a:pPr marL="457200" lvl="1" indent="-457200">
              <a:buChar char="•"/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PCA compresses each dataset separately, but it cannot bridge the gap between them</a:t>
            </a:r>
          </a:p>
          <a:p>
            <a:pPr marL="457200" lvl="1" indent="-457200"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/>
              </a:rPr>
              <a:t>C</a:t>
            </a:r>
            <a:r>
              <a:rPr lang="en-US" sz="1700" b="0" dirty="0">
                <a:solidFill>
                  <a:srgbClr val="333333"/>
                </a:solidFill>
                <a:latin typeface="Calibri"/>
              </a:rPr>
              <a:t>annot multiply a Yelp vector by a Spotify vector</a:t>
            </a:r>
            <a:r>
              <a:rPr lang="en-US" sz="1700" dirty="0">
                <a:solidFill>
                  <a:srgbClr val="333333"/>
                </a:solidFill>
                <a:latin typeface="Calibri"/>
              </a:rPr>
              <a:t>.</a:t>
            </a:r>
            <a:r>
              <a:rPr lang="en-US" sz="17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n-US" sz="1700" dirty="0">
                <a:solidFill>
                  <a:srgbClr val="333333"/>
                </a:solidFill>
                <a:latin typeface="Calibri"/>
              </a:rPr>
              <a:t>T</a:t>
            </a:r>
            <a:r>
              <a:rPr lang="en-US" sz="1700" b="0" dirty="0">
                <a:solidFill>
                  <a:srgbClr val="333333"/>
                </a:solidFill>
                <a:latin typeface="Calibri"/>
              </a:rPr>
              <a:t>heir dimensions don’t align</a:t>
            </a:r>
          </a:p>
          <a:p>
            <a:pPr marL="457200" lvl="1" indent="-457200">
              <a:buChar char="•"/>
            </a:pPr>
            <a:endParaRPr lang="en-US" sz="1700" b="0" dirty="0">
              <a:solidFill>
                <a:srgbClr val="333333"/>
              </a:solidFill>
              <a:latin typeface="Calibri"/>
            </a:endParaRPr>
          </a:p>
          <a:p>
            <a:pPr marL="0" lvl="0" indent="-457200">
              <a:buChar char="•"/>
            </a:pPr>
            <a:r>
              <a:rPr lang="en-US" sz="1700" b="1" dirty="0">
                <a:solidFill>
                  <a:srgbClr val="222222"/>
                </a:solidFill>
                <a:latin typeface="Calibri"/>
              </a:rPr>
              <a:t>We need a transformation matrix W that acts as the bridge: Yelp - Spotify</a:t>
            </a:r>
          </a:p>
          <a:p>
            <a:pPr marL="457200" lvl="1" indent="-457200">
              <a:buChar char="•"/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A translation dictionary: for each restaurant profile, W produces a target audio profile</a:t>
            </a:r>
          </a:p>
          <a:p>
            <a:pPr marL="457200" lvl="1" indent="-457200">
              <a:buChar char="•"/>
            </a:pPr>
            <a:r>
              <a:rPr lang="en-US" sz="1700" b="0" dirty="0">
                <a:solidFill>
                  <a:srgbClr val="333333"/>
                </a:solidFill>
                <a:latin typeface="Calibri"/>
              </a:rPr>
              <a:t>W </a:t>
            </a:r>
            <a:r>
              <a:rPr lang="en-US" sz="1700" dirty="0">
                <a:solidFill>
                  <a:srgbClr val="333333"/>
                </a:solidFill>
                <a:latin typeface="Calibri"/>
              </a:rPr>
              <a:t> * </a:t>
            </a:r>
            <a:r>
              <a:rPr lang="en-US" sz="1700" b="0" dirty="0">
                <a:solidFill>
                  <a:srgbClr val="333333"/>
                </a:solidFill>
                <a:latin typeface="Calibri"/>
              </a:rPr>
              <a:t>(Yelp vector) = predicted Spotify audio profile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22909" y="82127"/>
            <a:ext cx="7344000" cy="7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800" b="1" dirty="0">
                <a:solidFill>
                  <a:srgbClr val="9B2335"/>
                </a:solidFill>
                <a:latin typeface="Calibri"/>
              </a:rPr>
              <a:t>What’s Next: The 5-Step Pipeline</a:t>
            </a:r>
          </a:p>
        </p:txBody>
      </p:sp>
      <p:sp>
        <p:nvSpPr>
          <p:cNvPr id="10" name="Rect 10"/>
          <p:cNvSpPr txBox="1"/>
          <p:nvPr/>
        </p:nvSpPr>
        <p:spPr>
          <a:xfrm>
            <a:off x="1086600" y="1400000"/>
            <a:ext cx="1370000" cy="500000"/>
          </a:xfrm>
          <a:prstGeom prst="roundRect">
            <a:avLst>
              <a:gd name="adj" fmla="val 20000"/>
            </a:avLst>
          </a:prstGeom>
          <a:solidFill>
            <a:srgbClr val="4A90D9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1. Ground Truth</a:t>
            </a:r>
          </a:p>
        </p:txBody>
      </p:sp>
      <p:sp>
        <p:nvSpPr>
          <p:cNvPr id="11" name="TextBox 11"/>
          <p:cNvSpPr txBox="1">
            <a:spLocks noGrp="1"/>
          </p:cNvSpPr>
          <p:nvPr/>
        </p:nvSpPr>
        <p:spPr>
          <a:xfrm>
            <a:off x="1086600" y="1960000"/>
            <a:ext cx="1370000" cy="1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Manually pair restaurants to target audio profiles</a:t>
            </a:r>
          </a:p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(fine dining - low energy, high acousticness)</a:t>
            </a:r>
          </a:p>
        </p:txBody>
      </p:sp>
      <p:sp>
        <p:nvSpPr>
          <p:cNvPr id="12" name="Rect 12"/>
          <p:cNvSpPr txBox="1"/>
          <p:nvPr/>
        </p:nvSpPr>
        <p:spPr>
          <a:xfrm>
            <a:off x="2694364" y="1400000"/>
            <a:ext cx="1370000" cy="500000"/>
          </a:xfrm>
          <a:prstGeom prst="roundRect">
            <a:avLst>
              <a:gd name="adj" fmla="val 20000"/>
            </a:avLst>
          </a:prstGeom>
          <a:solidFill>
            <a:srgbClr val="9B2335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2. Train W Matrix</a:t>
            </a:r>
          </a:p>
        </p:txBody>
      </p:sp>
      <p:sp>
        <p:nvSpPr>
          <p:cNvPr id="13" name="TextBox 13"/>
          <p:cNvSpPr txBox="1">
            <a:spLocks noGrp="1"/>
          </p:cNvSpPr>
          <p:nvPr/>
        </p:nvSpPr>
        <p:spPr>
          <a:xfrm>
            <a:off x="2694364" y="1960000"/>
            <a:ext cx="1370000" cy="1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Ordinary Least Squares: find W minimizing error</a:t>
            </a:r>
          </a:p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between predicted and curated song profiles</a:t>
            </a:r>
          </a:p>
        </p:txBody>
      </p:sp>
      <p:sp>
        <p:nvSpPr>
          <p:cNvPr id="14" name="Rect 14"/>
          <p:cNvSpPr txBox="1"/>
          <p:nvPr/>
        </p:nvSpPr>
        <p:spPr>
          <a:xfrm>
            <a:off x="4302128" y="1407618"/>
            <a:ext cx="1370000" cy="5000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3. Cross-Domain Bridge</a:t>
            </a:r>
          </a:p>
        </p:txBody>
      </p:sp>
      <p:sp>
        <p:nvSpPr>
          <p:cNvPr id="15" name="TextBox 15"/>
          <p:cNvSpPr txBox="1">
            <a:spLocks noGrp="1"/>
          </p:cNvSpPr>
          <p:nvPr/>
        </p:nvSpPr>
        <p:spPr>
          <a:xfrm>
            <a:off x="4302128" y="1967618"/>
            <a:ext cx="1370000" cy="1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W ⋅ (Yelp PCA vector) = target Spotify audio profile</a:t>
            </a:r>
          </a:p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Now both datasets speak the same language</a:t>
            </a:r>
          </a:p>
        </p:txBody>
      </p:sp>
      <p:sp>
        <p:nvSpPr>
          <p:cNvPr id="16" name="Rect 16"/>
          <p:cNvSpPr txBox="1"/>
          <p:nvPr/>
        </p:nvSpPr>
        <p:spPr>
          <a:xfrm>
            <a:off x="5909892" y="1400000"/>
            <a:ext cx="1370000" cy="500000"/>
          </a:xfrm>
          <a:prstGeom prst="roundRect">
            <a:avLst>
              <a:gd name="adj" fmla="val 20000"/>
            </a:avLst>
          </a:prstGeom>
          <a:solidFill>
            <a:srgbClr val="7B1FA2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4. Cosine Similarity</a:t>
            </a:r>
          </a:p>
        </p:txBody>
      </p:sp>
      <p:sp>
        <p:nvSpPr>
          <p:cNvPr id="17" name="TextBox 17"/>
          <p:cNvSpPr txBox="1">
            <a:spLocks noGrp="1"/>
          </p:cNvSpPr>
          <p:nvPr/>
        </p:nvSpPr>
        <p:spPr>
          <a:xfrm>
            <a:off x="5909892" y="1960000"/>
            <a:ext cx="1370000" cy="1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Search all 1.2M Spotify tracks for vectors</a:t>
            </a:r>
          </a:p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closest in angle to the predicted target profile</a:t>
            </a:r>
          </a:p>
        </p:txBody>
      </p:sp>
      <p:sp>
        <p:nvSpPr>
          <p:cNvPr id="18" name="Rect 18"/>
          <p:cNvSpPr txBox="1"/>
          <p:nvPr/>
        </p:nvSpPr>
        <p:spPr>
          <a:xfrm>
            <a:off x="7580000" y="1400000"/>
            <a:ext cx="1370000" cy="500000"/>
          </a:xfrm>
          <a:prstGeom prst="roundRect">
            <a:avLst>
              <a:gd name="adj" fmla="val 20000"/>
            </a:avLst>
          </a:prstGeom>
          <a:solidFill>
            <a:srgbClr val="E65100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5. Human Feedback Loop</a:t>
            </a:r>
          </a:p>
        </p:txBody>
      </p:sp>
      <p:sp>
        <p:nvSpPr>
          <p:cNvPr id="19" name="TextBox 19"/>
          <p:cNvSpPr txBox="1">
            <a:spLocks noGrp="1"/>
          </p:cNvSpPr>
          <p:nvPr/>
        </p:nvSpPr>
        <p:spPr>
          <a:xfrm>
            <a:off x="7580000" y="1960000"/>
            <a:ext cx="1370000" cy="1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Thumbs up/down refines W over time</a:t>
            </a:r>
          </a:p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Active learning makes the model smarter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600000" y="380000"/>
            <a:ext cx="7344000" cy="7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800" b="1" dirty="0">
                <a:solidFill>
                  <a:srgbClr val="9B2335"/>
                </a:solidFill>
                <a:latin typeface="Calibri"/>
              </a:rPr>
              <a:t>The Math: How Yelp Becomes Music</a:t>
            </a:r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217" y="1128491"/>
            <a:ext cx="73440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6601-22F3-325A-ED49-90AF9EC21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49C40E5-E526-E0F1-D3B3-C426284A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000" y="380000"/>
            <a:ext cx="7344000" cy="7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800" b="1" dirty="0">
                <a:solidFill>
                  <a:srgbClr val="9B2335"/>
                </a:solidFill>
                <a:latin typeface="Calibri"/>
              </a:rPr>
              <a:t>Questions &amp; Concerns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9AC2B857-5808-F3B7-3531-958284823CD4}"/>
              </a:ext>
            </a:extLst>
          </p:cNvPr>
          <p:cNvSpPr txBox="1">
            <a:spLocks noGrp="1"/>
          </p:cNvSpPr>
          <p:nvPr/>
        </p:nvSpPr>
        <p:spPr>
          <a:xfrm>
            <a:off x="1488380" y="1281126"/>
            <a:ext cx="6699655" cy="25080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Calibri"/>
              </a:rPr>
              <a:t>Time </a:t>
            </a:r>
          </a:p>
          <a:p>
            <a:pPr marL="342900" indent="-342900" algn="l">
              <a:buFont typeface="+mj-lt"/>
              <a:buAutoNum type="arabicPeriod"/>
            </a:pPr>
            <a:endParaRPr lang="en-US" dirty="0">
              <a:solidFill>
                <a:srgbClr val="333333"/>
              </a:solidFill>
              <a:latin typeface="Calibri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Calibri"/>
              </a:rPr>
              <a:t>What if there are multiple datasets (spanning more than 3 dimensions)?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0" dirty="0">
                <a:solidFill>
                  <a:srgbClr val="333333"/>
                </a:solidFill>
                <a:latin typeface="Calibri"/>
              </a:rPr>
              <a:t>Latent Space</a:t>
            </a:r>
            <a:endParaRPr lang="en-US" dirty="0">
              <a:solidFill>
                <a:srgbClr val="333333"/>
              </a:solidFill>
              <a:latin typeface="Calibri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b="0" dirty="0">
                <a:solidFill>
                  <a:srgbClr val="333333"/>
                </a:solidFill>
                <a:latin typeface="Calibri"/>
              </a:rPr>
              <a:t>SVD (Singular Vector Decomposition) </a:t>
            </a:r>
          </a:p>
          <a:p>
            <a:pPr marL="342900" indent="-342900" algn="l">
              <a:buFont typeface="+mj-lt"/>
              <a:buAutoNum type="arabicPeriod"/>
            </a:pPr>
            <a:endParaRPr lang="en-US" dirty="0">
              <a:solidFill>
                <a:srgbClr val="333333"/>
              </a:solidFill>
              <a:latin typeface="Calibri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Calibri"/>
              </a:rPr>
              <a:t>Two Tower Approach </a:t>
            </a:r>
          </a:p>
        </p:txBody>
      </p:sp>
    </p:spTree>
    <p:extLst>
      <p:ext uri="{BB962C8B-B14F-4D97-AF65-F5344CB8AC3E}">
        <p14:creationId xmlns:p14="http://schemas.microsoft.com/office/powerpoint/2010/main" val="2844690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800000" y="1500000"/>
            <a:ext cx="6900000" cy="10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4000" b="1" dirty="0">
                <a:solidFill>
                  <a:srgbClr val="9B2335"/>
                </a:solidFill>
                <a:latin typeface="Calibri"/>
              </a:rPr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2D787C-DDB7-D909-9A56-1D9D089CE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kansas">
      <a:dk1>
        <a:srgbClr val="000000"/>
      </a:dk1>
      <a:lt1>
        <a:srgbClr val="FFFFFF"/>
      </a:lt1>
      <a:dk2>
        <a:srgbClr val="9D2235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904955"/>
      </a:accent6>
      <a:hlink>
        <a:srgbClr val="808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243</TotalTime>
  <Words>623</Words>
  <Application>Microsoft Office PowerPoint</Application>
  <PresentationFormat>On-screen Show (16:9)</PresentationFormat>
  <Paragraphs>93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Restaurant Music Recommendation Engine</vt:lpstr>
      <vt:lpstr>The Big Picture</vt:lpstr>
      <vt:lpstr>What I Learned: Linear Algebra Concepts</vt:lpstr>
      <vt:lpstr>What I Learned: Linear Algebra Concepts</vt:lpstr>
      <vt:lpstr>Covariance Matrix: Spotting Redundant Features</vt:lpstr>
      <vt:lpstr>Redundant vs. Independent: Visualized in 3D</vt:lpstr>
      <vt:lpstr>PCA: How Many Components Do We Need?</vt:lpstr>
      <vt:lpstr>The Problem: Two Datasets, Different Dimensions</vt:lpstr>
      <vt:lpstr>What’s Next: The 5-Step Pipeline</vt:lpstr>
      <vt:lpstr>The Math: How Yelp Becomes Music</vt:lpstr>
      <vt:lpstr>Questions &amp; Concerns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ryan moh</cp:lastModifiedBy>
  <cp:revision>43</cp:revision>
  <dcterms:created xsi:type="dcterms:W3CDTF">2010-04-12T23:12:02Z</dcterms:created>
  <dcterms:modified xsi:type="dcterms:W3CDTF">2026-06-26T04:19:10Z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
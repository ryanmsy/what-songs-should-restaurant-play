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93455" r:id="rId4"/>
  </p:sldMasterIdLst>
  <p:sldIdLst>
    <p:sldId id="256" r:id="rId5"/>
    <p:sldId id="257" r:id="rId6"/>
    <p:sldId id="269" r:id="rId7"/>
    <p:sldId id="267" r:id="rId8"/>
    <p:sldId id="260" r:id="rId9"/>
    <p:sldId id="261" r:id="rId10"/>
    <p:sldId id="262" r:id="rId11"/>
    <p:sldId id="263" r:id="rId12"/>
    <p:sldId id="264" r:id="rId13"/>
    <p:sldId id="265" r:id="rId14"/>
    <p:sldId id="268" r:id="rId15"/>
    <p:sldId id="266" r:id="rId16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3203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589" autoAdjust="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252" y="56"/>
      </p:cViewPr>
      <p:guideLst>
        <p:guide orient="horz" pos="1620"/>
        <p:guide pos="3203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49" d="100"/>
        <a:sy n="149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09168" y="1597819"/>
            <a:ext cx="8234832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6184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DB3CC-F982-40F9-8DD6-BCC9AFBF44BD}" type="datetime1">
              <a:rPr lang="en-US" smtClean="0"/>
              <a:pPr/>
              <a:t>6/26/2026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8E988-FB04-AB4E-BE5A-59F242AF7F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3514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2560D-EC28-3B41-86E8-18F1CE0113B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6355A-084C-D24E-9AD2-7E4FC41EA6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382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2818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2818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E7B99-7C3F-4BC3-B7B8-7E1F8C620B24}" type="datetime1">
              <a:rPr lang="en-US" smtClean="0"/>
              <a:pPr/>
              <a:t>6/26/2026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AF2B4D-6B12-4EDF-87BB-2B55CECB661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394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11206" y="1200151"/>
            <a:ext cx="3810316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73922" y="1200151"/>
            <a:ext cx="3801296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2560D-EC28-3B41-86E8-18F1CE0113B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6355A-084C-D24E-9AD2-7E4FC41EA6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594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0069" y="1151335"/>
            <a:ext cx="3809287" cy="479822"/>
          </a:xfrm>
        </p:spPr>
        <p:txBody>
          <a:bodyPr anchor="b">
            <a:norm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0069" y="1631156"/>
            <a:ext cx="38092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2560D-EC28-3B41-86E8-18F1CE0113B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6355A-084C-D24E-9AD2-7E4FC41EA627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 Placeholder 2"/>
          <p:cNvSpPr>
            <a:spLocks noGrp="1"/>
          </p:cNvSpPr>
          <p:nvPr>
            <p:ph type="body" idx="13"/>
          </p:nvPr>
        </p:nvSpPr>
        <p:spPr>
          <a:xfrm>
            <a:off x="5084763" y="1148899"/>
            <a:ext cx="3809287" cy="479822"/>
          </a:xfrm>
        </p:spPr>
        <p:txBody>
          <a:bodyPr anchor="b">
            <a:norm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5084763" y="1628720"/>
            <a:ext cx="38092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868244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2560D-EC28-3B41-86E8-18F1CE0113B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6355A-084C-D24E-9AD2-7E4FC41EA6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7129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2560D-EC28-3B41-86E8-18F1CE0113B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6355A-084C-D24E-9AD2-7E4FC41EA6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2246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1341" y="204787"/>
            <a:ext cx="3008313" cy="66839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63414" y="204788"/>
            <a:ext cx="4711803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1341" y="1010298"/>
            <a:ext cx="3008313" cy="358432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2560D-EC28-3B41-86E8-18F1CE0113B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B1FF6-39B9-40F5-8B67-33C6354A3D4F}" type="slidenum">
              <a:rPr kumimoji="0" lang="en-US" smtClean="0"/>
              <a:pPr eaLnBrk="1" latinLnBrk="0" hangingPunct="1"/>
              <a:t>‹#›</a:t>
            </a:fld>
            <a:endParaRPr kumimoji="0" lang="en-US" dirty="0">
              <a:solidFill>
                <a:schemeClr val="accent3">
                  <a:shade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82203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1206" y="3600450"/>
            <a:ext cx="7764012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11206" y="187627"/>
            <a:ext cx="7764012" cy="335805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1206" y="4025503"/>
            <a:ext cx="7764012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2560D-EC28-3B41-86E8-18F1CE0113B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6355A-084C-D24E-9AD2-7E4FC41EA6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5983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52806" y="1028699"/>
            <a:ext cx="2222412" cy="62385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027432" y="1028699"/>
            <a:ext cx="5486400" cy="401240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52806" y="1723466"/>
            <a:ext cx="2222412" cy="285174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2560D-EC28-3B41-86E8-18F1CE0113B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6355A-084C-D24E-9AD2-7E4FC41EA6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938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2560D-EC28-3B41-86E8-18F1CE0113B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6355A-084C-D24E-9AD2-7E4FC41EA6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3172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2560D-EC28-3B41-86E8-18F1CE0113B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6355A-084C-D24E-9AD2-7E4FC41EA6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9964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764856" y="-1"/>
            <a:ext cx="8379144" cy="923701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75000"/>
                </a:schemeClr>
              </a:gs>
              <a:gs pos="100000">
                <a:srgbClr val="FFFFFF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909169" cy="5143500"/>
          </a:xfrm>
          <a:prstGeom prst="rect">
            <a:avLst/>
          </a:prstGeom>
          <a:gradFill flip="none" rotWithShape="1">
            <a:gsLst>
              <a:gs pos="26000">
                <a:schemeClr val="tx2"/>
              </a:gs>
              <a:gs pos="100000">
                <a:srgbClr val="FFFFFF"/>
              </a:gs>
            </a:gsLst>
            <a:lin ang="5400000" scaled="0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0070" y="141035"/>
            <a:ext cx="7735148" cy="6599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0070" y="923701"/>
            <a:ext cx="7735148" cy="36709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132" y="4767263"/>
            <a:ext cx="81603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fld id="{68C2560D-EC28-3B41-86E8-18F1CE0113B4}" type="datetimeFigureOut">
              <a:rPr lang="en-US" smtClean="0"/>
              <a:pPr/>
              <a:t>6/26/2026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741618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66355A-084C-D24E-9AD2-7E4FC41EA62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Picture 6" descr="UA_Logo_reversed.png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32" y="181507"/>
            <a:ext cx="736665" cy="56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8435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93456" r:id="rId1"/>
    <p:sldLayoutId id="2147493457" r:id="rId2"/>
    <p:sldLayoutId id="2147493458" r:id="rId3"/>
    <p:sldLayoutId id="2147493459" r:id="rId4"/>
    <p:sldLayoutId id="2147493460" r:id="rId5"/>
    <p:sldLayoutId id="2147493461" r:id="rId6"/>
    <p:sldLayoutId id="2147493462" r:id="rId7"/>
    <p:sldLayoutId id="2147493463" r:id="rId8"/>
    <p:sldLayoutId id="2147493464" r:id="rId9"/>
    <p:sldLayoutId id="2147493467" r:id="rId10"/>
    <p:sldLayoutId id="2147493465" r:id="rId11"/>
    <p:sldLayoutId id="2147493466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1800000" y="1469273"/>
            <a:ext cx="4711636" cy="1400000"/>
          </a:xfrm>
          <a:prstGeom prst="rect">
            <a:avLst/>
          </a:prstGeom>
          <a:noFill/>
        </p:spPr>
        <p:txBody>
          <a:bodyPr anchor="ctr">
            <a:normAutofit/>
          </a:bodyPr>
          <a:lstStyle/>
          <a:p>
            <a:pPr algn="l"/>
            <a:r>
              <a:rPr lang="en-US" sz="2500" b="1" dirty="0">
                <a:solidFill>
                  <a:srgbClr val="C00000"/>
                </a:solidFill>
                <a:latin typeface="Calibri"/>
              </a:rPr>
              <a:t>Restaurant Music Recommendation Engine</a:t>
            </a:r>
          </a:p>
        </p:txBody>
      </p:sp>
      <p:sp>
        <p:nvSpPr>
          <p:cNvPr id="3" name="Subtitle 3"/>
          <p:cNvSpPr>
            <a:spLocks noGrp="1"/>
          </p:cNvSpPr>
          <p:nvPr>
            <p:ph type="subTitle" idx="1"/>
          </p:nvPr>
        </p:nvSpPr>
        <p:spPr>
          <a:xfrm>
            <a:off x="1800000" y="3100000"/>
            <a:ext cx="6900000" cy="700000"/>
          </a:xfrm>
          <a:prstGeom prst="rect">
            <a:avLst/>
          </a:prstGeom>
          <a:noFill/>
        </p:spPr>
        <p:txBody>
          <a:bodyPr anchor="ctr"/>
          <a:lstStyle/>
          <a:p>
            <a:pPr algn="l"/>
            <a:r>
              <a:rPr lang="en-US" sz="1600" dirty="0">
                <a:solidFill>
                  <a:srgbClr val="777777"/>
                </a:solidFill>
                <a:latin typeface="Calibri"/>
              </a:rPr>
              <a:t>Progress Update  |  Ryan Moh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1600000" y="380000"/>
            <a:ext cx="7344000" cy="7000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lang="en-US" sz="2800" b="1" dirty="0">
                <a:solidFill>
                  <a:srgbClr val="9B2335"/>
                </a:solidFill>
                <a:latin typeface="Calibri"/>
              </a:rPr>
              <a:t>The Big Picture</a:t>
            </a:r>
          </a:p>
        </p:txBody>
      </p:sp>
      <p:sp>
        <p:nvSpPr>
          <p:cNvPr id="3" name="Content 3"/>
          <p:cNvSpPr>
            <a:spLocks noGrp="1"/>
          </p:cNvSpPr>
          <p:nvPr>
            <p:ph idx="1"/>
          </p:nvPr>
        </p:nvSpPr>
        <p:spPr>
          <a:xfrm>
            <a:off x="1600000" y="1150000"/>
            <a:ext cx="7344000" cy="37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0" lvl="0" indent="-457200">
              <a:buChar char="•"/>
            </a:pPr>
            <a:r>
              <a:rPr lang="en-US" sz="1700" b="1" dirty="0">
                <a:solidFill>
                  <a:srgbClr val="222222"/>
                </a:solidFill>
                <a:latin typeface="Calibri"/>
              </a:rPr>
              <a:t>Two datasets, one goal: match a restaurant’s vibe to the right music</a:t>
            </a:r>
          </a:p>
          <a:p>
            <a:pPr marL="457200" lvl="1" indent="-457200">
              <a:buChar char="•"/>
            </a:pPr>
            <a:r>
              <a:rPr lang="en-US" sz="1700" b="0" dirty="0">
                <a:solidFill>
                  <a:srgbClr val="333333"/>
                </a:solidFill>
                <a:latin typeface="Calibri"/>
              </a:rPr>
              <a:t>Yelp dataset: 52,268 restaurants with attributes (ambiance, noise level, price, categories)</a:t>
            </a:r>
          </a:p>
          <a:p>
            <a:pPr marL="457200" lvl="1" indent="-457200">
              <a:buChar char="•"/>
            </a:pPr>
            <a:r>
              <a:rPr lang="en-US" sz="1700" b="0" dirty="0">
                <a:solidFill>
                  <a:srgbClr val="333333"/>
                </a:solidFill>
                <a:latin typeface="Calibri"/>
              </a:rPr>
              <a:t>Spotify dataset: ~1.2 million tracks with 12 audio features (energy, danceability, valence, tempo…)</a:t>
            </a:r>
          </a:p>
          <a:p>
            <a:pPr marL="0" lvl="0" indent="-457200">
              <a:buChar char="•"/>
            </a:pPr>
            <a:r>
              <a:rPr lang="en-US" sz="1700" b="1" dirty="0">
                <a:solidFill>
                  <a:srgbClr val="222222"/>
                </a:solidFill>
                <a:latin typeface="Calibri"/>
              </a:rPr>
              <a:t>Linear algebra is the mathematical backbone connecting these two worlds</a:t>
            </a:r>
          </a:p>
          <a:p>
            <a:pPr marL="457200" lvl="1" indent="-457200">
              <a:buChar char="•"/>
            </a:pPr>
            <a:r>
              <a:rPr lang="en-US" sz="1700" b="0" dirty="0">
                <a:solidFill>
                  <a:srgbClr val="333333"/>
                </a:solidFill>
                <a:latin typeface="Calibri"/>
              </a:rPr>
              <a:t>Covariance matrices, PCA, </a:t>
            </a:r>
            <a:r>
              <a:rPr lang="en-US" sz="1700" b="0" dirty="0" err="1">
                <a:solidFill>
                  <a:srgbClr val="333333"/>
                </a:solidFill>
                <a:latin typeface="Calibri"/>
              </a:rPr>
              <a:t>eigendecomposition</a:t>
            </a:r>
            <a:r>
              <a:rPr lang="en-US" sz="1700" b="0" dirty="0">
                <a:solidFill>
                  <a:srgbClr val="333333"/>
                </a:solidFill>
                <a:latin typeface="Calibri"/>
              </a:rPr>
              <a:t> - reduce noise, find signal</a:t>
            </a:r>
          </a:p>
          <a:p>
            <a:pPr marL="457200" lvl="1" indent="-457200">
              <a:buChar char="•"/>
            </a:pPr>
            <a:r>
              <a:rPr lang="en-US" sz="1700" b="0" dirty="0">
                <a:solidFill>
                  <a:srgbClr val="333333"/>
                </a:solidFill>
                <a:latin typeface="Calibri"/>
              </a:rPr>
              <a:t>A transformation matrix W will learn to “translate” restaurant language into music language</a:t>
            </a:r>
          </a:p>
          <a:p>
            <a:pPr marL="0" lvl="0" indent="-457200">
              <a:buChar char="•"/>
            </a:pPr>
            <a:r>
              <a:rPr lang="en-US" sz="1700" b="1" dirty="0">
                <a:solidFill>
                  <a:srgbClr val="222222"/>
                </a:solidFill>
                <a:latin typeface="Calibri"/>
              </a:rPr>
              <a:t>Final output: given any restaurant, generate a curated playlist using cosine similarity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5CDCB-DDE7-B27D-27E1-15EE7A12C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AD9998E2-CC9A-B85F-AB31-455E8CB00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4145" y="30000"/>
            <a:ext cx="7344000" cy="7000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lang="en-US" sz="2800" b="1" dirty="0">
                <a:solidFill>
                  <a:srgbClr val="9B2335"/>
                </a:solidFill>
                <a:latin typeface="Calibri"/>
              </a:rPr>
              <a:t>What I Learned: Linear Algebra Concepts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F0F4FC-B27F-D8E5-DD6F-D27DE5F04D11}"/>
              </a:ext>
            </a:extLst>
          </p:cNvPr>
          <p:cNvSpPr txBox="1"/>
          <p:nvPr/>
        </p:nvSpPr>
        <p:spPr>
          <a:xfrm>
            <a:off x="1205345" y="907253"/>
            <a:ext cx="6781799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300" b="1" dirty="0"/>
              <a:t>Column Space C(A)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300" dirty="0"/>
              <a:t>Columns = Available Features (Loud, Energy, Ambiance)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300" dirty="0"/>
              <a:t>Defines the limits of what a model can learn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300" dirty="0"/>
          </a:p>
          <a:p>
            <a:pPr>
              <a:buFont typeface="Arial" panose="020B0604020202020204" pitchFamily="34" charset="0"/>
              <a:buChar char="•"/>
            </a:pPr>
            <a:endParaRPr lang="en-US" sz="1300" dirty="0"/>
          </a:p>
          <a:p>
            <a:pPr>
              <a:buNone/>
            </a:pPr>
            <a:r>
              <a:rPr lang="en-US" sz="1300" b="1" dirty="0"/>
              <a:t>Null Space Ax= 0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300" dirty="0"/>
              <a:t>Overlap = Redundant Data (Unit of Measure: BPM vs dB)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300" dirty="0"/>
              <a:t>Identifies duplicates to delete and simplify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300" dirty="0"/>
          </a:p>
          <a:p>
            <a:pPr>
              <a:buFont typeface="Arial" panose="020B0604020202020204" pitchFamily="34" charset="0"/>
              <a:buChar char="•"/>
            </a:pPr>
            <a:endParaRPr lang="en-US" sz="1300" dirty="0"/>
          </a:p>
          <a:p>
            <a:pPr>
              <a:buNone/>
            </a:pPr>
            <a:r>
              <a:rPr lang="en-US" sz="1300" b="1" dirty="0"/>
              <a:t>Row Space C(A^T)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300" dirty="0"/>
              <a:t>Rows = Actual Observations (Number of restaurants / Songs)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300" dirty="0"/>
              <a:t>Reveal the true group / observations of the data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300" dirty="0"/>
          </a:p>
          <a:p>
            <a:pPr>
              <a:buFont typeface="Arial" panose="020B0604020202020204" pitchFamily="34" charset="0"/>
              <a:buChar char="•"/>
            </a:pPr>
            <a:endParaRPr lang="en-US" sz="1300" dirty="0"/>
          </a:p>
          <a:p>
            <a:pPr>
              <a:buNone/>
            </a:pPr>
            <a:r>
              <a:rPr lang="en-US" sz="1300" b="1" dirty="0"/>
              <a:t>Left Null Space N(A^T)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300" dirty="0"/>
              <a:t>Leftovers = Noise &amp; Constraints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300" dirty="0"/>
              <a:t>Identifies redundant observations </a:t>
            </a:r>
          </a:p>
        </p:txBody>
      </p:sp>
    </p:spTree>
    <p:extLst>
      <p:ext uri="{BB962C8B-B14F-4D97-AF65-F5344CB8AC3E}">
        <p14:creationId xmlns:p14="http://schemas.microsoft.com/office/powerpoint/2010/main" val="10159152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92CDB-4326-B4E4-0574-7713A658C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E4288734-9766-5004-9ACA-530946B4B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4145" y="30000"/>
            <a:ext cx="7344000" cy="7000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lang="en-US" sz="2800" b="1" dirty="0">
                <a:solidFill>
                  <a:srgbClr val="9B2335"/>
                </a:solidFill>
                <a:latin typeface="Calibri"/>
              </a:rPr>
              <a:t>What I Learned: Linear Algebra Concepts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482F6E8B-EC5E-4D8C-4900-717044D836CC}"/>
              </a:ext>
            </a:extLst>
          </p:cNvPr>
          <p:cNvSpPr txBox="1">
            <a:spLocks noGrp="1"/>
          </p:cNvSpPr>
          <p:nvPr/>
        </p:nvSpPr>
        <p:spPr>
          <a:xfrm>
            <a:off x="990600" y="890441"/>
            <a:ext cx="7629291" cy="380625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sz="1300" b="1" dirty="0"/>
              <a:t>Matrix Factorization</a:t>
            </a:r>
          </a:p>
          <a:p>
            <a:r>
              <a:rPr lang="en-US" sz="1300" dirty="0"/>
              <a:t>LU Decomposition (A = LU): Factoring a matrix into Lower and Upper triangular components to record the steps of Gaussian elimination.</a:t>
            </a:r>
          </a:p>
          <a:p>
            <a:endParaRPr lang="en-US" sz="1300" dirty="0"/>
          </a:p>
          <a:p>
            <a:endParaRPr lang="en-US" sz="1300" dirty="0"/>
          </a:p>
          <a:p>
            <a:r>
              <a:rPr lang="en-US" sz="1300" b="1" dirty="0"/>
              <a:t>PCA</a:t>
            </a:r>
          </a:p>
          <a:p>
            <a:r>
              <a:rPr lang="en-US" sz="1300" b="1" dirty="0"/>
              <a:t>Eigenvectors: </a:t>
            </a:r>
            <a:r>
              <a:rPr lang="en-US" sz="1300" dirty="0"/>
              <a:t>Direction of the variance of the dataset</a:t>
            </a:r>
          </a:p>
          <a:p>
            <a:r>
              <a:rPr lang="en-US" sz="1300" b="1" dirty="0"/>
              <a:t>Eigenvalues:</a:t>
            </a:r>
            <a:r>
              <a:rPr lang="en-US" sz="1300" dirty="0"/>
              <a:t>  Magnitude / importance of the direction</a:t>
            </a:r>
          </a:p>
          <a:p>
            <a:endParaRPr lang="en-US" sz="1300" dirty="0"/>
          </a:p>
          <a:p>
            <a:endParaRPr lang="en-US" sz="1300" dirty="0"/>
          </a:p>
          <a:p>
            <a:r>
              <a:rPr lang="en-US" sz="1300" b="1" dirty="0" err="1"/>
              <a:t>StandardScaler</a:t>
            </a:r>
            <a:endParaRPr lang="en-US" sz="1300" b="1" dirty="0"/>
          </a:p>
          <a:p>
            <a:r>
              <a:rPr lang="en-US" sz="1300" dirty="0"/>
              <a:t>Neutralize unit differences (Km vs Cm)</a:t>
            </a:r>
          </a:p>
          <a:p>
            <a:endParaRPr lang="en-US" sz="1300" dirty="0"/>
          </a:p>
          <a:p>
            <a:endParaRPr lang="en-US" sz="1300" dirty="0"/>
          </a:p>
          <a:p>
            <a:r>
              <a:rPr lang="en-US" sz="1300" b="1" dirty="0"/>
              <a:t>Matrix Transpose</a:t>
            </a:r>
          </a:p>
          <a:p>
            <a:r>
              <a:rPr lang="en-US" sz="1300" dirty="0"/>
              <a:t>A step to calculate covariance matrices and shift operations between features and observations.</a:t>
            </a:r>
          </a:p>
          <a:p>
            <a:endParaRPr lang="en-US" sz="1300" dirty="0"/>
          </a:p>
          <a:p>
            <a:endParaRPr lang="en-US" sz="1300" dirty="0"/>
          </a:p>
          <a:p>
            <a:r>
              <a:rPr lang="en-US" sz="1300" b="1" dirty="0"/>
              <a:t>Orthogonality (</a:t>
            </a:r>
            <a:r>
              <a:rPr lang="en-US" sz="1300" dirty="0"/>
              <a:t>90-degree angle)</a:t>
            </a:r>
            <a:endParaRPr lang="en-US" sz="1300" b="1" dirty="0"/>
          </a:p>
          <a:p>
            <a:r>
              <a:rPr lang="en-US" sz="1300" dirty="0"/>
              <a:t>To make sure new dimensions capture only unique information without introducing new redundancies.</a:t>
            </a:r>
          </a:p>
        </p:txBody>
      </p:sp>
    </p:spTree>
    <p:extLst>
      <p:ext uri="{BB962C8B-B14F-4D97-AF65-F5344CB8AC3E}">
        <p14:creationId xmlns:p14="http://schemas.microsoft.com/office/powerpoint/2010/main" val="9079983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1600000" y="380000"/>
            <a:ext cx="7344000" cy="700000"/>
          </a:xfrm>
          <a:prstGeom prst="rect">
            <a:avLst/>
          </a:prstGeom>
          <a:noFill/>
        </p:spPr>
        <p:txBody>
          <a:bodyPr anchor="ctr">
            <a:normAutofit fontScale="90000"/>
          </a:bodyPr>
          <a:lstStyle/>
          <a:p>
            <a:r>
              <a:rPr lang="en-US" sz="2800" b="1" dirty="0">
                <a:solidFill>
                  <a:srgbClr val="9B2335"/>
                </a:solidFill>
                <a:latin typeface="Calibri"/>
              </a:rPr>
              <a:t>Covariance Matrix: Spotting Redundant Features</a:t>
            </a:r>
          </a:p>
        </p:txBody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454" y="1122514"/>
            <a:ext cx="4200000" cy="3400000"/>
          </a:xfrm>
          <a:prstGeom prst="rect">
            <a:avLst/>
          </a:prstGeom>
        </p:spPr>
      </p:pic>
      <p:sp>
        <p:nvSpPr>
          <p:cNvPr id="4" name="TextBox 4"/>
          <p:cNvSpPr txBox="1">
            <a:spLocks noGrp="1"/>
          </p:cNvSpPr>
          <p:nvPr/>
        </p:nvSpPr>
        <p:spPr>
          <a:xfrm>
            <a:off x="5334000" y="1106273"/>
            <a:ext cx="3704545" cy="37982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n-US" sz="1300" b="1" u="sng" dirty="0">
                <a:solidFill>
                  <a:srgbClr val="333333"/>
                </a:solidFill>
                <a:latin typeface="Calibri"/>
              </a:rPr>
              <a:t>Key Findings:</a:t>
            </a:r>
          </a:p>
          <a:p>
            <a:pPr algn="l"/>
            <a:r>
              <a:rPr lang="en-US" sz="1300" b="1" dirty="0">
                <a:solidFill>
                  <a:srgbClr val="333333"/>
                </a:solidFill>
                <a:latin typeface="Calibri"/>
              </a:rPr>
              <a:t>Energy -  Loudness: </a:t>
            </a:r>
            <a:r>
              <a:rPr lang="en-US" sz="1300" b="0" dirty="0">
                <a:solidFill>
                  <a:srgbClr val="333333"/>
                </a:solidFill>
                <a:latin typeface="Calibri"/>
              </a:rPr>
              <a:t>0.82 (strongly correlated)</a:t>
            </a:r>
          </a:p>
          <a:p>
            <a:pPr algn="l"/>
            <a:endParaRPr lang="en-US" sz="1300" b="0" dirty="0">
              <a:solidFill>
                <a:srgbClr val="333333"/>
              </a:solidFill>
              <a:latin typeface="Calibri"/>
            </a:endParaRPr>
          </a:p>
          <a:p>
            <a:pPr algn="l"/>
            <a:r>
              <a:rPr lang="en-US" sz="1300" b="1" dirty="0">
                <a:solidFill>
                  <a:srgbClr val="333333"/>
                </a:solidFill>
                <a:latin typeface="Calibri"/>
              </a:rPr>
              <a:t>Energy  Acousticness: </a:t>
            </a:r>
            <a:r>
              <a:rPr lang="en-US" sz="1300" b="0" dirty="0">
                <a:solidFill>
                  <a:srgbClr val="333333"/>
                </a:solidFill>
                <a:latin typeface="Calibri"/>
              </a:rPr>
              <a:t>-0.80 (near-perfect inverse relationship)</a:t>
            </a:r>
          </a:p>
          <a:p>
            <a:pPr algn="l"/>
            <a:endParaRPr lang="en-US" sz="1300" b="0" dirty="0">
              <a:solidFill>
                <a:srgbClr val="333333"/>
              </a:solidFill>
              <a:latin typeface="Calibri"/>
            </a:endParaRPr>
          </a:p>
          <a:p>
            <a:pPr algn="l"/>
            <a:r>
              <a:rPr lang="en-US" sz="1300" b="1" dirty="0">
                <a:solidFill>
                  <a:srgbClr val="333333"/>
                </a:solidFill>
                <a:latin typeface="Calibri"/>
              </a:rPr>
              <a:t>Danceability - Valence: </a:t>
            </a:r>
            <a:r>
              <a:rPr lang="en-US" sz="1300" b="0" dirty="0">
                <a:solidFill>
                  <a:srgbClr val="333333"/>
                </a:solidFill>
                <a:latin typeface="Calibri"/>
              </a:rPr>
              <a:t>0.56 (happier songs)</a:t>
            </a:r>
          </a:p>
          <a:p>
            <a:pPr algn="l"/>
            <a:endParaRPr lang="en-US" sz="1300" dirty="0">
              <a:solidFill>
                <a:srgbClr val="333333"/>
              </a:solidFill>
              <a:latin typeface="Calibri"/>
            </a:endParaRPr>
          </a:p>
          <a:p>
            <a:pPr algn="l"/>
            <a:endParaRPr lang="en-US" sz="1300" b="0" dirty="0">
              <a:solidFill>
                <a:srgbClr val="333333"/>
              </a:solidFill>
              <a:latin typeface="Calibri"/>
            </a:endParaRPr>
          </a:p>
          <a:p>
            <a:pPr algn="l"/>
            <a:endParaRPr lang="en-US" sz="1300" b="0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1600000" y="380000"/>
            <a:ext cx="7344000" cy="7000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lang="en-US" sz="2800" b="1" dirty="0">
                <a:solidFill>
                  <a:srgbClr val="9B2335"/>
                </a:solidFill>
                <a:latin typeface="Calibri"/>
              </a:rPr>
              <a:t>Redundant vs. Independent: Visualized in 3D</a:t>
            </a:r>
          </a:p>
        </p:txBody>
      </p:sp>
      <p:sp>
        <p:nvSpPr>
          <p:cNvPr id="4" name="TextBox 4"/>
          <p:cNvSpPr txBox="1">
            <a:spLocks noGrp="1"/>
          </p:cNvSpPr>
          <p:nvPr/>
        </p:nvSpPr>
        <p:spPr>
          <a:xfrm>
            <a:off x="1163582" y="4217763"/>
            <a:ext cx="3500000" cy="7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n-US" sz="1350" b="1" dirty="0">
                <a:solidFill>
                  <a:srgbClr val="9B2335"/>
                </a:solidFill>
                <a:latin typeface="Calibri"/>
              </a:rPr>
              <a:t>Data collapses into a flat plane. </a:t>
            </a:r>
          </a:p>
          <a:p>
            <a:pPr algn="l"/>
            <a:r>
              <a:rPr lang="en-US" sz="1350" b="1" dirty="0">
                <a:solidFill>
                  <a:srgbClr val="9B2335"/>
                </a:solidFill>
                <a:latin typeface="Calibri"/>
              </a:rPr>
              <a:t>3 features span only 2 dimensions.</a:t>
            </a:r>
          </a:p>
        </p:txBody>
      </p:sp>
      <p:sp>
        <p:nvSpPr>
          <p:cNvPr id="5" name="TextBox 5"/>
          <p:cNvSpPr txBox="1">
            <a:spLocks noGrp="1"/>
          </p:cNvSpPr>
          <p:nvPr/>
        </p:nvSpPr>
        <p:spPr>
          <a:xfrm>
            <a:off x="5272000" y="4202963"/>
            <a:ext cx="3400000" cy="7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n-US" sz="1350" b="1" dirty="0">
                <a:solidFill>
                  <a:srgbClr val="1F5C99"/>
                </a:solidFill>
                <a:latin typeface="Calibri"/>
              </a:rPr>
              <a:t>Data fills the 3D volume. </a:t>
            </a:r>
          </a:p>
          <a:p>
            <a:pPr algn="l"/>
            <a:r>
              <a:rPr lang="en-US" sz="1350" b="1" dirty="0">
                <a:solidFill>
                  <a:srgbClr val="1F5C99"/>
                </a:solidFill>
                <a:latin typeface="Calibri"/>
              </a:rPr>
              <a:t>These features are independent.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CEB6270-3B84-976A-4AF4-016F73B44B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4209" y="1139512"/>
            <a:ext cx="6062890" cy="27260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1600000" y="380000"/>
            <a:ext cx="7344000" cy="7000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lang="en-US" sz="2800" b="1" dirty="0">
                <a:solidFill>
                  <a:srgbClr val="9B2335"/>
                </a:solidFill>
                <a:latin typeface="Calibri"/>
              </a:rPr>
              <a:t>PCA: How Many Components Do We Need?</a:t>
            </a:r>
          </a:p>
        </p:txBody>
      </p:sp>
      <p:sp>
        <p:nvSpPr>
          <p:cNvPr id="5" name="TextBox 5"/>
          <p:cNvSpPr txBox="1">
            <a:spLocks noGrp="1"/>
          </p:cNvSpPr>
          <p:nvPr/>
        </p:nvSpPr>
        <p:spPr>
          <a:xfrm>
            <a:off x="1600000" y="4000000"/>
            <a:ext cx="3550000" cy="45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n-US" sz="1450" b="1" dirty="0">
                <a:solidFill>
                  <a:srgbClr val="9B2335"/>
                </a:solidFill>
                <a:latin typeface="Calibri"/>
              </a:rPr>
              <a:t>Spotify: 6 components  85%+ variance</a:t>
            </a:r>
          </a:p>
        </p:txBody>
      </p:sp>
      <p:sp>
        <p:nvSpPr>
          <p:cNvPr id="6" name="TextBox 6"/>
          <p:cNvSpPr txBox="1">
            <a:spLocks noGrp="1"/>
          </p:cNvSpPr>
          <p:nvPr/>
        </p:nvSpPr>
        <p:spPr>
          <a:xfrm>
            <a:off x="5400000" y="4000000"/>
            <a:ext cx="3550000" cy="5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9B2335"/>
                </a:solidFill>
                <a:latin typeface="Calibri"/>
              </a:rPr>
              <a:t>Yelp: More spread out = More independent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F746C33-F52E-E619-17D8-7B2CC7A97B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882" y="1576248"/>
            <a:ext cx="2410161" cy="199100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7B9C617-6A74-7DCF-7A32-C8A083D955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3942" y="1296320"/>
            <a:ext cx="2142115" cy="255085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1600000" y="380000"/>
            <a:ext cx="7344000" cy="700000"/>
          </a:xfrm>
          <a:prstGeom prst="rect">
            <a:avLst/>
          </a:prstGeom>
          <a:noFill/>
        </p:spPr>
        <p:txBody>
          <a:bodyPr anchor="ctr">
            <a:normAutofit fontScale="90000"/>
          </a:bodyPr>
          <a:lstStyle/>
          <a:p>
            <a:r>
              <a:rPr lang="en-US" sz="2800" b="1" dirty="0">
                <a:solidFill>
                  <a:srgbClr val="9B2335"/>
                </a:solidFill>
                <a:latin typeface="Calibri"/>
              </a:rPr>
              <a:t>The Problem: Two Datasets, Different Dimensions</a:t>
            </a:r>
          </a:p>
        </p:txBody>
      </p:sp>
      <p:sp>
        <p:nvSpPr>
          <p:cNvPr id="3" name="Content 3"/>
          <p:cNvSpPr>
            <a:spLocks noGrp="1"/>
          </p:cNvSpPr>
          <p:nvPr>
            <p:ph idx="1"/>
          </p:nvPr>
        </p:nvSpPr>
        <p:spPr>
          <a:xfrm>
            <a:off x="1600000" y="1150000"/>
            <a:ext cx="7344000" cy="37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/>
              </a:rPr>
              <a:t>Yelp: price, ambiance, noise level, categories</a:t>
            </a:r>
          </a:p>
          <a:p>
            <a:pPr marL="0" lvl="0" indent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/>
              </a:rPr>
              <a:t>Spotify: danceability, acousticness, energy, tempo</a:t>
            </a:r>
          </a:p>
          <a:p>
            <a:pPr marL="457200" lvl="1" indent="-457200">
              <a:buChar char="•"/>
            </a:pPr>
            <a:r>
              <a:rPr lang="en-US" sz="1700" b="0" dirty="0">
                <a:solidFill>
                  <a:srgbClr val="333333"/>
                </a:solidFill>
                <a:latin typeface="Calibri"/>
              </a:rPr>
              <a:t>PCA compresses each dataset separately, but it cannot bridge the gap between them</a:t>
            </a:r>
          </a:p>
          <a:p>
            <a:pPr marL="457200" lvl="1" indent="-457200">
              <a:buChar char="•"/>
            </a:pPr>
            <a:r>
              <a:rPr lang="en-US" sz="1700" dirty="0">
                <a:solidFill>
                  <a:srgbClr val="333333"/>
                </a:solidFill>
                <a:latin typeface="Calibri"/>
              </a:rPr>
              <a:t>C</a:t>
            </a:r>
            <a:r>
              <a:rPr lang="en-US" sz="1700" b="0" dirty="0">
                <a:solidFill>
                  <a:srgbClr val="333333"/>
                </a:solidFill>
                <a:latin typeface="Calibri"/>
              </a:rPr>
              <a:t>annot multiply a Yelp vector by a Spotify vector</a:t>
            </a:r>
            <a:r>
              <a:rPr lang="en-US" sz="1700" dirty="0">
                <a:solidFill>
                  <a:srgbClr val="333333"/>
                </a:solidFill>
                <a:latin typeface="Calibri"/>
              </a:rPr>
              <a:t>.</a:t>
            </a:r>
            <a:r>
              <a:rPr lang="en-US" sz="17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lang="en-US" sz="1700" dirty="0">
                <a:solidFill>
                  <a:srgbClr val="333333"/>
                </a:solidFill>
                <a:latin typeface="Calibri"/>
              </a:rPr>
              <a:t>T</a:t>
            </a:r>
            <a:r>
              <a:rPr lang="en-US" sz="1700" b="0" dirty="0">
                <a:solidFill>
                  <a:srgbClr val="333333"/>
                </a:solidFill>
                <a:latin typeface="Calibri"/>
              </a:rPr>
              <a:t>heir dimensions don’t align</a:t>
            </a:r>
          </a:p>
          <a:p>
            <a:pPr marL="457200" lvl="1" indent="-457200">
              <a:buChar char="•"/>
            </a:pPr>
            <a:endParaRPr lang="en-US" sz="1700" b="0" dirty="0">
              <a:solidFill>
                <a:srgbClr val="333333"/>
              </a:solidFill>
              <a:latin typeface="Calibri"/>
            </a:endParaRPr>
          </a:p>
          <a:p>
            <a:pPr marL="0" lvl="0" indent="-457200">
              <a:buChar char="•"/>
            </a:pPr>
            <a:r>
              <a:rPr lang="en-US" sz="1700" b="1" dirty="0">
                <a:solidFill>
                  <a:srgbClr val="222222"/>
                </a:solidFill>
                <a:latin typeface="Calibri"/>
              </a:rPr>
              <a:t>We need a transformation matrix W that acts as the bridge: Yelp - Spotify</a:t>
            </a:r>
          </a:p>
          <a:p>
            <a:pPr marL="457200" lvl="1" indent="-457200">
              <a:buChar char="•"/>
            </a:pPr>
            <a:r>
              <a:rPr lang="en-US" sz="1700" b="0" dirty="0">
                <a:solidFill>
                  <a:srgbClr val="333333"/>
                </a:solidFill>
                <a:latin typeface="Calibri"/>
              </a:rPr>
              <a:t>A translation dictionary: for each restaurant profile, W produces a target audio profile</a:t>
            </a:r>
          </a:p>
          <a:p>
            <a:pPr marL="457200" lvl="1" indent="-457200">
              <a:buChar char="•"/>
            </a:pPr>
            <a:r>
              <a:rPr lang="en-US" sz="1700" b="0" dirty="0">
                <a:solidFill>
                  <a:srgbClr val="333333"/>
                </a:solidFill>
                <a:latin typeface="Calibri"/>
              </a:rPr>
              <a:t>W </a:t>
            </a:r>
            <a:r>
              <a:rPr lang="en-US" sz="1700" dirty="0">
                <a:solidFill>
                  <a:srgbClr val="333333"/>
                </a:solidFill>
                <a:latin typeface="Calibri"/>
              </a:rPr>
              <a:t> * </a:t>
            </a:r>
            <a:r>
              <a:rPr lang="en-US" sz="1700" b="0" dirty="0">
                <a:solidFill>
                  <a:srgbClr val="333333"/>
                </a:solidFill>
                <a:latin typeface="Calibri"/>
              </a:rPr>
              <a:t>(Yelp vector) = predicted Spotify audio profile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1322909" y="82127"/>
            <a:ext cx="7344000" cy="7000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lang="en-US" sz="2800" b="1" dirty="0">
                <a:solidFill>
                  <a:srgbClr val="9B2335"/>
                </a:solidFill>
                <a:latin typeface="Calibri"/>
              </a:rPr>
              <a:t>What’s Next: The 5-Step Pipeline</a:t>
            </a:r>
          </a:p>
        </p:txBody>
      </p:sp>
      <p:sp>
        <p:nvSpPr>
          <p:cNvPr id="10" name="Rect 10"/>
          <p:cNvSpPr txBox="1"/>
          <p:nvPr/>
        </p:nvSpPr>
        <p:spPr>
          <a:xfrm>
            <a:off x="1086600" y="1400000"/>
            <a:ext cx="1370000" cy="500000"/>
          </a:xfrm>
          <a:prstGeom prst="roundRect">
            <a:avLst>
              <a:gd name="adj" fmla="val 20000"/>
            </a:avLst>
          </a:prstGeom>
          <a:solidFill>
            <a:srgbClr val="4A90D9"/>
          </a:solidFill>
        </p:spPr>
        <p:txBody>
          <a:bodyPr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1. Ground Truth</a:t>
            </a:r>
          </a:p>
        </p:txBody>
      </p:sp>
      <p:sp>
        <p:nvSpPr>
          <p:cNvPr id="11" name="TextBox 11"/>
          <p:cNvSpPr txBox="1">
            <a:spLocks noGrp="1"/>
          </p:cNvSpPr>
          <p:nvPr/>
        </p:nvSpPr>
        <p:spPr>
          <a:xfrm>
            <a:off x="1174310" y="1967618"/>
            <a:ext cx="1370000" cy="19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n-US" sz="1300" b="0" dirty="0">
                <a:solidFill>
                  <a:srgbClr val="333333"/>
                </a:solidFill>
                <a:latin typeface="Calibri"/>
              </a:rPr>
              <a:t>Manually pair restaurants to target audio</a:t>
            </a:r>
          </a:p>
          <a:p>
            <a:pPr algn="l"/>
            <a:r>
              <a:rPr lang="en-US" sz="1300" b="0" dirty="0">
                <a:solidFill>
                  <a:srgbClr val="333333"/>
                </a:solidFill>
                <a:latin typeface="Calibri"/>
              </a:rPr>
              <a:t>(fine dining - low energy, high acousticness)</a:t>
            </a:r>
          </a:p>
        </p:txBody>
      </p:sp>
      <p:sp>
        <p:nvSpPr>
          <p:cNvPr id="12" name="Rect 12"/>
          <p:cNvSpPr txBox="1"/>
          <p:nvPr/>
        </p:nvSpPr>
        <p:spPr>
          <a:xfrm>
            <a:off x="2694364" y="1400000"/>
            <a:ext cx="1370000" cy="500000"/>
          </a:xfrm>
          <a:prstGeom prst="roundRect">
            <a:avLst>
              <a:gd name="adj" fmla="val 20000"/>
            </a:avLst>
          </a:prstGeom>
          <a:solidFill>
            <a:srgbClr val="9B2335"/>
          </a:solidFill>
        </p:spPr>
        <p:txBody>
          <a:bodyPr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2. Train W Matrix</a:t>
            </a:r>
          </a:p>
        </p:txBody>
      </p:sp>
      <p:sp>
        <p:nvSpPr>
          <p:cNvPr id="13" name="TextBox 13"/>
          <p:cNvSpPr txBox="1">
            <a:spLocks noGrp="1"/>
          </p:cNvSpPr>
          <p:nvPr/>
        </p:nvSpPr>
        <p:spPr>
          <a:xfrm>
            <a:off x="2694364" y="1960000"/>
            <a:ext cx="1370000" cy="19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  <a:latin typeface="Calibri"/>
              </a:rPr>
              <a:t>F</a:t>
            </a:r>
            <a:r>
              <a:rPr lang="en-US" sz="1300" b="0" dirty="0">
                <a:solidFill>
                  <a:srgbClr val="333333"/>
                </a:solidFill>
                <a:latin typeface="Calibri"/>
              </a:rPr>
              <a:t>ind W minimizing error</a:t>
            </a:r>
          </a:p>
          <a:p>
            <a:pPr algn="l"/>
            <a:r>
              <a:rPr lang="en-US" sz="1300" b="0" dirty="0">
                <a:solidFill>
                  <a:srgbClr val="333333"/>
                </a:solidFill>
                <a:latin typeface="Calibri"/>
              </a:rPr>
              <a:t>between predicted and recommended song</a:t>
            </a:r>
          </a:p>
        </p:txBody>
      </p:sp>
      <p:sp>
        <p:nvSpPr>
          <p:cNvPr id="14" name="Rect 14"/>
          <p:cNvSpPr txBox="1"/>
          <p:nvPr/>
        </p:nvSpPr>
        <p:spPr>
          <a:xfrm>
            <a:off x="4302128" y="1407618"/>
            <a:ext cx="1370000" cy="500000"/>
          </a:xfrm>
          <a:prstGeom prst="roundRect">
            <a:avLst>
              <a:gd name="adj" fmla="val 20000"/>
            </a:avLst>
          </a:prstGeom>
          <a:solidFill>
            <a:srgbClr val="2E7D32"/>
          </a:solidFill>
        </p:spPr>
        <p:txBody>
          <a:bodyPr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3. Cross-Domain Bridge</a:t>
            </a:r>
          </a:p>
        </p:txBody>
      </p:sp>
      <p:sp>
        <p:nvSpPr>
          <p:cNvPr id="15" name="TextBox 15"/>
          <p:cNvSpPr txBox="1">
            <a:spLocks noGrp="1"/>
          </p:cNvSpPr>
          <p:nvPr/>
        </p:nvSpPr>
        <p:spPr>
          <a:xfrm>
            <a:off x="4302128" y="1967618"/>
            <a:ext cx="1370000" cy="19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n-US" sz="1300" b="0" dirty="0">
                <a:solidFill>
                  <a:srgbClr val="333333"/>
                </a:solidFill>
                <a:latin typeface="Calibri"/>
              </a:rPr>
              <a:t>W ⋅ (Yelp PCA vector) = target Spotify audio profile</a:t>
            </a:r>
          </a:p>
        </p:txBody>
      </p:sp>
      <p:sp>
        <p:nvSpPr>
          <p:cNvPr id="16" name="Rect 16"/>
          <p:cNvSpPr txBox="1"/>
          <p:nvPr/>
        </p:nvSpPr>
        <p:spPr>
          <a:xfrm>
            <a:off x="5909892" y="1400000"/>
            <a:ext cx="1370000" cy="500000"/>
          </a:xfrm>
          <a:prstGeom prst="roundRect">
            <a:avLst>
              <a:gd name="adj" fmla="val 20000"/>
            </a:avLst>
          </a:prstGeom>
          <a:solidFill>
            <a:srgbClr val="7B1FA2"/>
          </a:solidFill>
        </p:spPr>
        <p:txBody>
          <a:bodyPr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4. Cosine Similarity</a:t>
            </a:r>
          </a:p>
        </p:txBody>
      </p:sp>
      <p:sp>
        <p:nvSpPr>
          <p:cNvPr id="17" name="TextBox 17"/>
          <p:cNvSpPr txBox="1">
            <a:spLocks noGrp="1"/>
          </p:cNvSpPr>
          <p:nvPr/>
        </p:nvSpPr>
        <p:spPr>
          <a:xfrm>
            <a:off x="5909892" y="1960000"/>
            <a:ext cx="1370000" cy="19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n-US" sz="1300" b="0" dirty="0">
                <a:solidFill>
                  <a:srgbClr val="333333"/>
                </a:solidFill>
                <a:latin typeface="Calibri"/>
              </a:rPr>
              <a:t>Search songs for vectors</a:t>
            </a:r>
          </a:p>
          <a:p>
            <a:pPr algn="l"/>
            <a:r>
              <a:rPr lang="en-US" sz="1300" b="0" dirty="0">
                <a:solidFill>
                  <a:srgbClr val="333333"/>
                </a:solidFill>
                <a:latin typeface="Calibri"/>
              </a:rPr>
              <a:t>closest in angle to the predicted target</a:t>
            </a:r>
          </a:p>
        </p:txBody>
      </p:sp>
      <p:sp>
        <p:nvSpPr>
          <p:cNvPr id="18" name="Rect 18"/>
          <p:cNvSpPr txBox="1"/>
          <p:nvPr/>
        </p:nvSpPr>
        <p:spPr>
          <a:xfrm>
            <a:off x="7580000" y="1400000"/>
            <a:ext cx="1370000" cy="500000"/>
          </a:xfrm>
          <a:prstGeom prst="roundRect">
            <a:avLst>
              <a:gd name="adj" fmla="val 20000"/>
            </a:avLst>
          </a:prstGeom>
          <a:solidFill>
            <a:srgbClr val="E65100"/>
          </a:solidFill>
        </p:spPr>
        <p:txBody>
          <a:bodyPr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5. Human Feedback Loop</a:t>
            </a:r>
          </a:p>
        </p:txBody>
      </p:sp>
      <p:sp>
        <p:nvSpPr>
          <p:cNvPr id="19" name="TextBox 19"/>
          <p:cNvSpPr txBox="1">
            <a:spLocks noGrp="1"/>
          </p:cNvSpPr>
          <p:nvPr/>
        </p:nvSpPr>
        <p:spPr>
          <a:xfrm>
            <a:off x="7580000" y="1960000"/>
            <a:ext cx="1370000" cy="19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n-US" sz="1300" b="0" dirty="0">
                <a:solidFill>
                  <a:srgbClr val="333333"/>
                </a:solidFill>
                <a:latin typeface="Calibri"/>
              </a:rPr>
              <a:t>Human feedback tune the weights.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1600000" y="380000"/>
            <a:ext cx="7344000" cy="7000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lang="en-US" sz="2800" b="1" dirty="0">
                <a:solidFill>
                  <a:srgbClr val="9B2335"/>
                </a:solidFill>
                <a:latin typeface="Calibri"/>
              </a:rPr>
              <a:t>Math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CE58B4D-075E-0995-7257-7D101BDCF0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545" y="1418078"/>
            <a:ext cx="5950527" cy="300564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36601-22F3-325A-ED49-90AF9EC21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C49C40E5-E526-E0F1-D3B3-C426284AE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000" y="380000"/>
            <a:ext cx="7344000" cy="7000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lang="en-US" sz="2800" b="1" dirty="0">
                <a:solidFill>
                  <a:srgbClr val="9B2335"/>
                </a:solidFill>
                <a:latin typeface="Calibri"/>
              </a:rPr>
              <a:t>Questions &amp; Concerns</a:t>
            </a:r>
          </a:p>
        </p:txBody>
      </p:sp>
      <p:sp>
        <p:nvSpPr>
          <p:cNvPr id="5" name="TextBox 11">
            <a:extLst>
              <a:ext uri="{FF2B5EF4-FFF2-40B4-BE49-F238E27FC236}">
                <a16:creationId xmlns:a16="http://schemas.microsoft.com/office/drawing/2014/main" id="{9AC2B857-5808-F3B7-3531-958284823CD4}"/>
              </a:ext>
            </a:extLst>
          </p:cNvPr>
          <p:cNvSpPr txBox="1">
            <a:spLocks noGrp="1"/>
          </p:cNvSpPr>
          <p:nvPr/>
        </p:nvSpPr>
        <p:spPr>
          <a:xfrm>
            <a:off x="1488380" y="1281126"/>
            <a:ext cx="6699655" cy="25080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342900" indent="-342900" algn="l">
              <a:buFont typeface="+mj-lt"/>
              <a:buAutoNum type="arabicPeriod"/>
            </a:pPr>
            <a:r>
              <a:rPr lang="en-US" b="1" dirty="0">
                <a:solidFill>
                  <a:srgbClr val="333333"/>
                </a:solidFill>
                <a:latin typeface="Calibri"/>
              </a:rPr>
              <a:t>Time </a:t>
            </a:r>
          </a:p>
          <a:p>
            <a:pPr marL="342900" indent="-342900" algn="l">
              <a:buFont typeface="+mj-lt"/>
              <a:buAutoNum type="arabicPeriod"/>
            </a:pPr>
            <a:endParaRPr lang="en-US" dirty="0">
              <a:solidFill>
                <a:srgbClr val="333333"/>
              </a:solidFill>
              <a:latin typeface="Calibri"/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en-US" b="1" dirty="0">
                <a:solidFill>
                  <a:srgbClr val="333333"/>
                </a:solidFill>
                <a:latin typeface="Calibri"/>
              </a:rPr>
              <a:t>What if there are multiple datasets (spanning more than 3 dimensions)?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b="0" dirty="0">
                <a:solidFill>
                  <a:srgbClr val="333333"/>
                </a:solidFill>
                <a:latin typeface="Calibri"/>
              </a:rPr>
              <a:t>Latent Space</a:t>
            </a:r>
            <a:endParaRPr lang="en-US" dirty="0">
              <a:solidFill>
                <a:srgbClr val="333333"/>
              </a:solidFill>
              <a:latin typeface="Calibri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b="0" dirty="0">
                <a:solidFill>
                  <a:srgbClr val="333333"/>
                </a:solidFill>
                <a:latin typeface="Calibri"/>
              </a:rPr>
              <a:t>SVD (Singular Vector Decomposition) </a:t>
            </a:r>
          </a:p>
          <a:p>
            <a:pPr marL="342900" indent="-342900" algn="l">
              <a:buFont typeface="+mj-lt"/>
              <a:buAutoNum type="arabicPeriod"/>
            </a:pPr>
            <a:endParaRPr lang="en-US" dirty="0">
              <a:solidFill>
                <a:srgbClr val="333333"/>
              </a:solidFill>
              <a:latin typeface="Calibri"/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en-US" b="1" dirty="0">
                <a:solidFill>
                  <a:srgbClr val="333333"/>
                </a:solidFill>
                <a:latin typeface="Calibri"/>
              </a:rPr>
              <a:t>Two Tower Approach </a:t>
            </a:r>
          </a:p>
        </p:txBody>
      </p:sp>
    </p:spTree>
    <p:extLst>
      <p:ext uri="{BB962C8B-B14F-4D97-AF65-F5344CB8AC3E}">
        <p14:creationId xmlns:p14="http://schemas.microsoft.com/office/powerpoint/2010/main" val="28446908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1800000" y="1500000"/>
            <a:ext cx="6900000" cy="10000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lang="en-US" sz="4000" b="1" dirty="0">
                <a:solidFill>
                  <a:srgbClr val="9B2335"/>
                </a:solidFill>
                <a:latin typeface="Calibri"/>
              </a:rPr>
              <a:t>Thank You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2D787C-DDB7-D909-9A56-1D9D089CE2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rkansas">
      <a:dk1>
        <a:srgbClr val="000000"/>
      </a:dk1>
      <a:lt1>
        <a:srgbClr val="FFFFFF"/>
      </a:lt1>
      <a:dk2>
        <a:srgbClr val="9D2235"/>
      </a:dk2>
      <a:lt2>
        <a:srgbClr val="F3F2DC"/>
      </a:lt2>
      <a:accent1>
        <a:srgbClr val="93A299"/>
      </a:accent1>
      <a:accent2>
        <a:srgbClr val="AD8F67"/>
      </a:accent2>
      <a:accent3>
        <a:srgbClr val="726056"/>
      </a:accent3>
      <a:accent4>
        <a:srgbClr val="4C5A6A"/>
      </a:accent4>
      <a:accent5>
        <a:srgbClr val="808DA0"/>
      </a:accent5>
      <a:accent6>
        <a:srgbClr val="904955"/>
      </a:accent6>
      <a:hlink>
        <a:srgbClr val="808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DE64AEEDD9B7A4D93545ACBE97D4615" ma:contentTypeVersion="2" ma:contentTypeDescription="Create a new document." ma:contentTypeScope="" ma:versionID="f49002b78e3a4a71b814eef46a983816">
  <xsd:schema xmlns:xsd="http://www.w3.org/2001/XMLSchema" xmlns:xs="http://www.w3.org/2001/XMLSchema" xmlns:p="http://schemas.microsoft.com/office/2006/metadata/properties" xmlns:ns2="http://schemas.microsoft.com/sharepoint/v3/fields" targetNamespace="http://schemas.microsoft.com/office/2006/metadata/properties" ma:root="true" ma:fieldsID="38f6db2dd0d9a0cf6a8dc37be32b365b" ns2:_="">
    <xsd:import namespace="http://schemas.microsoft.com/sharepoint/v3/fields"/>
    <xsd:element name="properties">
      <xsd:complexType>
        <xsd:sequence>
          <xsd:element name="documentManagement">
            <xsd:complexType>
              <xsd:all>
                <xsd:element ref="ns2:_Status" minOccurs="0"/>
                <xsd:element ref="ns2:_Vers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/fields" elementFormDefault="qualified">
    <xsd:import namespace="http://schemas.microsoft.com/office/2006/documentManagement/types"/>
    <xsd:import namespace="http://schemas.microsoft.com/office/infopath/2007/PartnerControls"/>
    <xsd:element name="_Status" ma:index="8" nillable="true" ma:displayName="Status" ma:default="Not Started" ma:internalName="_Status">
      <xsd:simpleType>
        <xsd:union memberTypes="dms:Text">
          <xsd:simpleType>
            <xsd:restriction base="dms:Choice">
              <xsd:enumeration value="Not Started"/>
              <xsd:enumeration value="Draft"/>
              <xsd:enumeration value="Reviewed"/>
              <xsd:enumeration value="Scheduled"/>
              <xsd:enumeration value="Published"/>
              <xsd:enumeration value="Final"/>
              <xsd:enumeration value="Expired"/>
            </xsd:restriction>
          </xsd:simpleType>
        </xsd:union>
      </xsd:simpleType>
    </xsd:element>
    <xsd:element name="_Version" ma:index="9" nillable="true" ma:displayName="Version" ma:internalName="_Version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 ma:displayName="Status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Version xmlns="http://schemas.microsoft.com/sharepoint/v3/fields" xsi:nil="true"/>
    <_Status xmlns="http://schemas.microsoft.com/sharepoint/v3/fields">Not Started</_Status>
  </documentManagement>
</p:properties>
</file>

<file path=customXml/itemProps1.xml><?xml version="1.0" encoding="utf-8"?>
<ds:datastoreItem xmlns:ds="http://schemas.openxmlformats.org/officeDocument/2006/customXml" ds:itemID="{87D2A1B0-FF3E-4009-940D-AED0EB70AA2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4214858-785C-42F7-BE66-6D0E79395FC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/field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B6F2769-7194-4217-93D3-3AF3A4742282}">
  <ds:schemaRefs>
    <ds:schemaRef ds:uri="http://schemas.microsoft.com/office/2006/metadata/properties"/>
    <ds:schemaRef ds:uri="http://schemas.microsoft.com/office/infopath/2007/PartnerControls"/>
    <ds:schemaRef ds:uri="http://schemas.microsoft.com/sharepoint/v3/field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FNEMasterTemplateForThemePreview.pptx</Template>
  <TotalTime>2221</TotalTime>
  <Words>617</Words>
  <Application>Microsoft Office PowerPoint</Application>
  <PresentationFormat>On-screen Show (16:9)</PresentationFormat>
  <Paragraphs>98</Paragraphs>
  <Slides>12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Restaurant Music Recommendation Engine</vt:lpstr>
      <vt:lpstr>The Big Picture</vt:lpstr>
      <vt:lpstr>What I Learned: Linear Algebra Concepts</vt:lpstr>
      <vt:lpstr>What I Learned: Linear Algebra Concepts</vt:lpstr>
      <vt:lpstr>Covariance Matrix: Spotting Redundant Features</vt:lpstr>
      <vt:lpstr>Redundant vs. Independent: Visualized in 3D</vt:lpstr>
      <vt:lpstr>PCA: How Many Components Do We Need?</vt:lpstr>
      <vt:lpstr>The Problem: Two Datasets, Different Dimensions</vt:lpstr>
      <vt:lpstr>What’s Next: The 5-Step Pipeline</vt:lpstr>
      <vt:lpstr>Math</vt:lpstr>
      <vt:lpstr>Questions &amp; Concerns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FileNewTemplate</dc:title>
  <dc:creator>Diana</dc:creator>
  <cp:lastModifiedBy>ryan moh</cp:lastModifiedBy>
  <cp:revision>45</cp:revision>
  <dcterms:created xsi:type="dcterms:W3CDTF">2010-04-12T23:12:02Z</dcterms:created>
  <dcterms:modified xsi:type="dcterms:W3CDTF">2026-06-27T15:12:00Z</dcterms:modified>
  <cp:contentStatus>Draft</cp:contentStatu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0x0101000DE64AEEDD9B7A4D93545ACBE97D4615</vt:lpwstr>
  </property>
</Properties>
</file>